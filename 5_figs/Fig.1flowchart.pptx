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2634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5E2E4-DEDD-6A17-E9E2-BCE71DC11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B2047-B23C-44CA-BC42-81C637A12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26D29-E5F3-0A89-0168-382B9B18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6DB33-C93F-5D06-0E95-78F4CA49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E4499-D88B-05F9-4547-7A99D2F7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838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F6B7-CA8C-A7C6-3E85-FB740AFD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0D87-CA33-322E-D096-744D0452C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37141-40B9-2141-FBB5-3896E8D3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B259D-7DAF-F2D6-0740-13951A2DE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94480-7371-E410-6853-0E2FF5C4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91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4B2D-5466-90C4-F249-5E1AACC5C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AB961-F62A-07EB-6F98-740D61DE6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B837B-8E64-CDA2-999E-797C69F2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85EAF-7F65-AD19-404D-A1C7C01F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C1DBA-BD24-D8AC-DE37-EA2C5152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84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3CFA-B66A-F0DC-181D-CA43E327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EF74B-C701-DBE5-6516-2642E5590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0056F-80DF-DBC9-0FF1-13843BD55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100E3-CEB0-6293-D7D5-888587D4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7FE63-AD05-54E3-21AE-E06863FC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1B9F4-E516-0E77-2ADB-DE7CD511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51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9CCD-29C5-348C-F672-D7175944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07F1-165D-C6CC-068B-F136C6906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1A261-7255-4771-4EAF-4975982EA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706D9-D0CC-F007-68E3-4DBDEDC5B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03C2B-18DB-4D78-E2B8-43071D66E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5ACAA-660F-DEAC-57BD-992ADD22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571FB-ECDB-9203-2C73-131B9AFC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6E2CB-9DA8-2E7A-FCE1-9FF7B46F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43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AE63-DD24-F269-F4F7-A4496DCA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85314A-CDFA-7152-1EC5-2795C4E3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322DC-75C0-EFCC-FE93-CB926B32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3D489-3239-3A3A-AEFD-4C6B0C99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6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68B1B-D8CD-574B-35D2-07AC6964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C5E8C-51B4-26CF-EA3A-91C905FB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FC344-3C4A-0A21-15AA-7E9282E9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68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9A1A-2286-6ED5-910B-C718D80E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A4DBB-23E4-4962-1005-33579E6B8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E28BB-9F1D-4813-E084-EAE4252CD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7E424-C260-CEB8-858E-16B55C0B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8D2EB-C974-0BB9-DF76-D5D5E006A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91998-80D1-1083-10F1-E29DEDB6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893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69FF-9785-92B0-0BF4-CC527957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4E8AD-E6C6-D0B6-044B-6B3E9134157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D61-7EE4-808E-2736-E8FB192ED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54B64-1AD0-F4A2-8C79-973D8636A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612E9-4473-46B0-D064-FFA84CEF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BA758-3CC0-672E-2716-2623D525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14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B4EA-800E-8C34-E86F-D436DCA3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55BFA-BFD5-E24B-7367-3CE41A751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E0F0E-DE82-424D-7253-1A9F73BA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757AE-6D6D-961A-4658-C27910875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EC4E1-6C9D-EEA9-67CF-B837DE57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53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A45D01-80F0-9C79-DEA0-DE259E058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6C75F-09A5-6E64-7871-861147324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71080-86BC-9EEB-6E03-9C5723E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5F0F5-DD47-04C8-8BCD-9186B292B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48780-DC37-269B-12B0-B3506242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12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BAA74-3A52-8283-6248-40014508E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EEF4B-8271-058C-E9DB-8C4F96444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7F782-BE97-B921-863C-39B6E3BC5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464F1-EE7F-4EF5-B0D6-3115CDF8E2BC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3EF59-A104-FDEC-BB9A-618685D80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50EE1-3B05-3345-4C80-DB15C605D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80CEE-A385-4F55-818E-6684A75DF1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18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9A9D8B7-9020-8AB3-C6C5-3B51471FADF5}"/>
              </a:ext>
            </a:extLst>
          </p:cNvPr>
          <p:cNvGrpSpPr/>
          <p:nvPr/>
        </p:nvGrpSpPr>
        <p:grpSpPr>
          <a:xfrm>
            <a:off x="-2460825" y="-318471"/>
            <a:ext cx="17113649" cy="7445715"/>
            <a:chOff x="-2046571" y="-2131884"/>
            <a:chExt cx="17113649" cy="74457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D062C1-CADE-7BD0-A209-F10B69085DC2}"/>
                </a:ext>
              </a:extLst>
            </p:cNvPr>
            <p:cNvSpPr txBox="1"/>
            <p:nvPr/>
          </p:nvSpPr>
          <p:spPr>
            <a:xfrm>
              <a:off x="-71212" y="893760"/>
              <a:ext cx="13530158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Completing follow-up across different experiments (N = 1915, cross-section)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3078DD-1FBE-A2BA-BC2C-D1ED8D859ACE}"/>
                </a:ext>
              </a:extLst>
            </p:cNvPr>
            <p:cNvSpPr txBox="1"/>
            <p:nvPr/>
          </p:nvSpPr>
          <p:spPr>
            <a:xfrm>
              <a:off x="-71212" y="1772378"/>
              <a:ext cx="2952000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Online Experiment 1: 404 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5F44A1C-6DE3-B154-9465-665FB6869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1665" y="2141710"/>
              <a:ext cx="0" cy="2772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B69AB82-0FF9-DC67-0684-0BAA8431E864}"/>
                </a:ext>
              </a:extLst>
            </p:cNvPr>
            <p:cNvCxnSpPr>
              <a:cxnSpLocks/>
            </p:cNvCxnSpPr>
            <p:nvPr/>
          </p:nvCxnSpPr>
          <p:spPr>
            <a:xfrm>
              <a:off x="1489606" y="1263092"/>
              <a:ext cx="0" cy="5148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33DF6CB-0722-39C4-50FD-29D7CBC7BCD0}"/>
                </a:ext>
              </a:extLst>
            </p:cNvPr>
            <p:cNvCxnSpPr>
              <a:cxnSpLocks/>
            </p:cNvCxnSpPr>
            <p:nvPr/>
          </p:nvCxnSpPr>
          <p:spPr>
            <a:xfrm>
              <a:off x="5060091" y="1259480"/>
              <a:ext cx="0" cy="51286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28CFEE-6F45-12B0-9E5E-FA270F122F42}"/>
                </a:ext>
              </a:extLst>
            </p:cNvPr>
            <p:cNvCxnSpPr>
              <a:cxnSpLocks/>
            </p:cNvCxnSpPr>
            <p:nvPr/>
          </p:nvCxnSpPr>
          <p:spPr>
            <a:xfrm>
              <a:off x="8864883" y="1269884"/>
              <a:ext cx="0" cy="51286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4D4D45B-5DD9-7B76-275B-50F45739C07F}"/>
                </a:ext>
              </a:extLst>
            </p:cNvPr>
            <p:cNvCxnSpPr>
              <a:cxnSpLocks/>
            </p:cNvCxnSpPr>
            <p:nvPr/>
          </p:nvCxnSpPr>
          <p:spPr>
            <a:xfrm>
              <a:off x="12101694" y="1263092"/>
              <a:ext cx="0" cy="51286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C4A6B8-FD7E-6599-B2F9-5C3A0C501385}"/>
                </a:ext>
              </a:extLst>
            </p:cNvPr>
            <p:cNvSpPr txBox="1"/>
            <p:nvPr/>
          </p:nvSpPr>
          <p:spPr>
            <a:xfrm>
              <a:off x="-71212" y="4944499"/>
              <a:ext cx="2952000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Number analysed: N = 348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7FA937-1E32-7157-5CA2-FCA9AB307562}"/>
                </a:ext>
              </a:extLst>
            </p:cNvPr>
            <p:cNvSpPr txBox="1"/>
            <p:nvPr/>
          </p:nvSpPr>
          <p:spPr>
            <a:xfrm>
              <a:off x="-2046571" y="2733180"/>
              <a:ext cx="3190123" cy="1231106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Excluded: 56 (13.86%)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Choice repetition bias: 8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Near-chance-level performance: 32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Attention check failure: 19</a:t>
              </a:r>
            </a:p>
            <a:p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    (not mutually exclusive)</a:t>
              </a:r>
              <a:endParaRPr lang="en-GB" sz="2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21E56BC-0766-EB9B-E9E8-657967A071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410" y="3216104"/>
              <a:ext cx="324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0599347-96AC-0626-672A-476D2508D146}"/>
                </a:ext>
              </a:extLst>
            </p:cNvPr>
            <p:cNvCxnSpPr>
              <a:cxnSpLocks/>
            </p:cNvCxnSpPr>
            <p:nvPr/>
          </p:nvCxnSpPr>
          <p:spPr>
            <a:xfrm>
              <a:off x="5459535" y="-1470450"/>
              <a:ext cx="248" cy="1440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7FE073-DE42-6ED6-4ABD-A4EC8BFAC0CB}"/>
                </a:ext>
              </a:extLst>
            </p:cNvPr>
            <p:cNvSpPr txBox="1"/>
            <p:nvPr/>
          </p:nvSpPr>
          <p:spPr>
            <a:xfrm>
              <a:off x="5024026" y="-1203196"/>
              <a:ext cx="57947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Resided in the United States or the United Kingdom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Aged 18 - 40 years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Fluent in English or English as a primary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A07EBE-90F1-A3CB-CD82-EA5692F21990}"/>
                </a:ext>
              </a:extLst>
            </p:cNvPr>
            <p:cNvSpPr txBox="1"/>
            <p:nvPr/>
          </p:nvSpPr>
          <p:spPr>
            <a:xfrm>
              <a:off x="1587855" y="2733180"/>
              <a:ext cx="3190123" cy="1231106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Excluded: 60 (14.93%)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Choice repetition bias: 3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Near-chance-level performance: 46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Attention check failure: 17</a:t>
              </a:r>
            </a:p>
            <a:p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    (not mutually exclusive)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85E4B1-A722-A0E5-484D-55C2A2B343AA}"/>
                </a:ext>
              </a:extLst>
            </p:cNvPr>
            <p:cNvSpPr txBox="1"/>
            <p:nvPr/>
          </p:nvSpPr>
          <p:spPr>
            <a:xfrm>
              <a:off x="3451645" y="4944499"/>
              <a:ext cx="2952000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Number analysed: N = 342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81078E-B18C-15F7-9F45-E4468291653D}"/>
                </a:ext>
              </a:extLst>
            </p:cNvPr>
            <p:cNvSpPr txBox="1"/>
            <p:nvPr/>
          </p:nvSpPr>
          <p:spPr>
            <a:xfrm>
              <a:off x="5153366" y="2517737"/>
              <a:ext cx="3368572" cy="16619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Excluded: 175 (16.67%)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Exceeded time limit: 9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Choice repetition bias: 14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Near-chance-level performance: 135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Slow responding: 6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Attention check Failure: 41</a:t>
              </a:r>
            </a:p>
            <a:p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   (not mutually exclusive)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05E966-AD4A-B567-CA22-CB841E89F41C}"/>
                </a:ext>
              </a:extLst>
            </p:cNvPr>
            <p:cNvCxnSpPr>
              <a:cxnSpLocks/>
            </p:cNvCxnSpPr>
            <p:nvPr/>
          </p:nvCxnSpPr>
          <p:spPr>
            <a:xfrm>
              <a:off x="8864883" y="2141710"/>
              <a:ext cx="1" cy="2772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C7F60AD-BDB5-FDDE-43E7-7F8D71D8F740}"/>
                </a:ext>
              </a:extLst>
            </p:cNvPr>
            <p:cNvSpPr txBox="1"/>
            <p:nvPr/>
          </p:nvSpPr>
          <p:spPr>
            <a:xfrm>
              <a:off x="7239395" y="4944499"/>
              <a:ext cx="2951998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Number analysed: N = 875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873329-D7A6-DFF5-805D-9437671B8980}"/>
                </a:ext>
              </a:extLst>
            </p:cNvPr>
            <p:cNvSpPr txBox="1"/>
            <p:nvPr/>
          </p:nvSpPr>
          <p:spPr>
            <a:xfrm>
              <a:off x="9119753" y="2964013"/>
              <a:ext cx="2649217" cy="769441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Excluded: 3 (5.09%)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Incomplete data: 2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400" dirty="0">
                  <a:latin typeface="Helvetica" panose="020B0604020202020204" pitchFamily="34" charset="0"/>
                  <a:cs typeface="Helvetica" panose="020B0604020202020204" pitchFamily="34" charset="0"/>
                </a:rPr>
                <a:t>Fell asleep during the task: 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D238C3D-EB36-5182-7121-39EED7C2FE1B}"/>
                </a:ext>
              </a:extLst>
            </p:cNvPr>
            <p:cNvCxnSpPr>
              <a:cxnSpLocks/>
            </p:cNvCxnSpPr>
            <p:nvPr/>
          </p:nvCxnSpPr>
          <p:spPr>
            <a:xfrm>
              <a:off x="12114351" y="2141710"/>
              <a:ext cx="1" cy="2772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918D11-5F5E-AC16-3F6C-DB2DE21DA439}"/>
                </a:ext>
              </a:extLst>
            </p:cNvPr>
            <p:cNvSpPr txBox="1"/>
            <p:nvPr/>
          </p:nvSpPr>
          <p:spPr>
            <a:xfrm>
              <a:off x="10506946" y="4944499"/>
              <a:ext cx="2952000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Number analysed: N = 56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587E83-A078-1891-D0A4-30CEC814129C}"/>
                </a:ext>
              </a:extLst>
            </p:cNvPr>
            <p:cNvSpPr txBox="1"/>
            <p:nvPr/>
          </p:nvSpPr>
          <p:spPr>
            <a:xfrm>
              <a:off x="-71212" y="-44285"/>
              <a:ext cx="10596869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Approximately 39,000 participants were confirmed eligible on Prolific. 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CC0A8E9-A744-929A-EAC3-A9357086654A}"/>
                </a:ext>
              </a:extLst>
            </p:cNvPr>
            <p:cNvCxnSpPr>
              <a:cxnSpLocks/>
            </p:cNvCxnSpPr>
            <p:nvPr/>
          </p:nvCxnSpPr>
          <p:spPr>
            <a:xfrm>
              <a:off x="5459535" y="353760"/>
              <a:ext cx="0" cy="540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2A89385-343B-0C59-5C22-68FCEA5F3B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5304" y="3216104"/>
              <a:ext cx="324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661E362-F732-9C09-D9C2-BFA8BC7FAC95}"/>
                </a:ext>
              </a:extLst>
            </p:cNvPr>
            <p:cNvCxnSpPr>
              <a:cxnSpLocks/>
            </p:cNvCxnSpPr>
            <p:nvPr/>
          </p:nvCxnSpPr>
          <p:spPr>
            <a:xfrm>
              <a:off x="5072061" y="2141710"/>
              <a:ext cx="0" cy="2772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5C85CD0-2384-EB13-9A06-DD87AF20C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24704" y="3216104"/>
              <a:ext cx="324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48E5AE7-4AEE-22C2-82A4-97452EA52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68970" y="3216104"/>
              <a:ext cx="324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F4AF550-C26F-F6B3-6D69-CFC6AB811A36}"/>
                </a:ext>
              </a:extLst>
            </p:cNvPr>
            <p:cNvSpPr txBox="1"/>
            <p:nvPr/>
          </p:nvSpPr>
          <p:spPr>
            <a:xfrm>
              <a:off x="3451645" y="1772378"/>
              <a:ext cx="2952000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Online Experiment 2: 402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1A530BA-B770-30EE-6D5D-236BC5CD8C16}"/>
                </a:ext>
              </a:extLst>
            </p:cNvPr>
            <p:cNvSpPr txBox="1"/>
            <p:nvPr/>
          </p:nvSpPr>
          <p:spPr>
            <a:xfrm>
              <a:off x="7239395" y="1772378"/>
              <a:ext cx="2952000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Online Experiment 3: 1050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C8E813-11B6-4B4F-871B-4654D95490E4}"/>
                </a:ext>
              </a:extLst>
            </p:cNvPr>
            <p:cNvSpPr txBox="1"/>
            <p:nvPr/>
          </p:nvSpPr>
          <p:spPr>
            <a:xfrm>
              <a:off x="10578946" y="1772378"/>
              <a:ext cx="2880000" cy="36933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Lab Experiment: 59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22A0D8-7B73-6934-3A19-D148DEE14B0C}"/>
                </a:ext>
              </a:extLst>
            </p:cNvPr>
            <p:cNvGrpSpPr/>
            <p:nvPr/>
          </p:nvGrpSpPr>
          <p:grpSpPr>
            <a:xfrm>
              <a:off x="-71212" y="-2131884"/>
              <a:ext cx="13824490" cy="646331"/>
              <a:chOff x="-71212" y="-2131884"/>
              <a:chExt cx="13824490" cy="64633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82DE351-3546-FC72-8C0A-05CC5B5B90C3}"/>
                  </a:ext>
                </a:extLst>
              </p:cNvPr>
              <p:cNvSpPr txBox="1"/>
              <p:nvPr/>
            </p:nvSpPr>
            <p:spPr>
              <a:xfrm>
                <a:off x="-71212" y="-2131884"/>
                <a:ext cx="10576670" cy="646331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GB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Approximately 260,000  participants were potentially eligible on the Prolific pool at the time of data collection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D642A7-5D9E-96D3-5E5F-4B3E85C0122C}"/>
                  </a:ext>
                </a:extLst>
              </p:cNvPr>
              <p:cNvSpPr txBox="1"/>
              <p:nvPr/>
            </p:nvSpPr>
            <p:spPr>
              <a:xfrm>
                <a:off x="10630721" y="-2131884"/>
                <a:ext cx="3122557" cy="646331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Recruitment from the Oxford University participant pool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87A6E53-7B84-146D-2942-1EF1302B427C}"/>
                </a:ext>
              </a:extLst>
            </p:cNvPr>
            <p:cNvSpPr txBox="1"/>
            <p:nvPr/>
          </p:nvSpPr>
          <p:spPr>
            <a:xfrm>
              <a:off x="12193780" y="-678121"/>
              <a:ext cx="28732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Aged 18 - 40 years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Fluent in English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Eligible for MRI scanning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765273A-59C3-7AB9-A52F-24D617033E84}"/>
                </a:ext>
              </a:extLst>
            </p:cNvPr>
            <p:cNvCxnSpPr>
              <a:cxnSpLocks/>
            </p:cNvCxnSpPr>
            <p:nvPr/>
          </p:nvCxnSpPr>
          <p:spPr>
            <a:xfrm>
              <a:off x="12114351" y="-1470450"/>
              <a:ext cx="0" cy="2340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D65C8E5-164A-E6ED-BCB0-9263352AA5E0}"/>
              </a:ext>
            </a:extLst>
          </p:cNvPr>
          <p:cNvSpPr txBox="1"/>
          <p:nvPr/>
        </p:nvSpPr>
        <p:spPr>
          <a:xfrm>
            <a:off x="-1797411" y="7406867"/>
            <a:ext cx="1557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Fig.1. Flowchart for participant selection. </a:t>
            </a:r>
            <a:r>
              <a:rPr lang="en-GB" sz="1200" dirty="0"/>
              <a:t>The number of participants retained at each stage of the study is shown. Online participants were recruited via Prolific, and in-person participants were recruited from the participant pool of the University of Oxford in the United Kingdom. A total of 1, 915 participants were enrolled in the cross-sectional study across four experiments. After applying the exclusion criteria, 1, 621 participants were retained for analysis (N = 348 in Online Experiment 1, N = 342 in Online Experiment 2, N = 875 in Online Experiment 3, and N = 56 in the Lab Experiment)</a:t>
            </a:r>
          </a:p>
        </p:txBody>
      </p:sp>
    </p:spTree>
    <p:extLst>
      <p:ext uri="{BB962C8B-B14F-4D97-AF65-F5344CB8AC3E}">
        <p14:creationId xmlns:p14="http://schemas.microsoft.com/office/powerpoint/2010/main" val="2611410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Yongling Lin</dc:creator>
  <cp:lastModifiedBy>Yongling Lin</cp:lastModifiedBy>
  <cp:revision>1</cp:revision>
  <dcterms:created xsi:type="dcterms:W3CDTF">2026-10-25T14:16:31Z</dcterms:created>
  <dcterms:modified xsi:type="dcterms:W3CDTF">2026-10-25T14:17:27Z</dcterms:modified>
</cp:coreProperties>
</file>